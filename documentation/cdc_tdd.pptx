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cdc — Complex Desk Calculator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1D5DB"/>
                </a:solidFill>
                <a:latin typeface="Calibri"/>
              </a:rPr>
              <a:t>Test-driven development in 27 increments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Hector Giraud, Lucas Bitbol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How these slides were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611880" cy="2743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563EB"/>
                </a:solidFill>
                <a:latin typeface="Calibri"/>
              </a:rPr>
              <a:t>1  Captured during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While doing TDD, every RED and GREEN step ran our snap.sh script. It saved the screenshots and committed them with a structured message (incNN RED/GREEN: test id).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5696" y="1325880"/>
            <a:ext cx="3611880" cy="2743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325880"/>
            <a:ext cx="361188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6002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D97706"/>
                </a:solidFill>
                <a:latin typeface="Calibri"/>
              </a:rPr>
              <a:t>2  Built by a deterministic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19456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This deck was then generated automatically from the git history and those screenshots: 27 increments, no manual editing. The same repository always produces the same slides.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1325880"/>
            <a:ext cx="3611880" cy="27432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1325880"/>
            <a:ext cx="3611880" cy="8229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352" y="16002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A34A"/>
                </a:solidFill>
                <a:latin typeface="Calibri"/>
              </a:rPr>
              <a:t>3  Generator written with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19456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script that builds the slides (build_slides.py) was written with the help of an AI assistant. It does not use AI when it runs: it only reads git, the test files and the images.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This was only possible because of how we organised our TDD automation: each screenshot and commit was produced in a consistent, machine-readable way at the moment the work happened.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1091672" cy="777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82296" cy="7772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6636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All of the calculator code, the unit tests and their statements, and the followingn of the TDD process itself were written by us, WITHOUT AI-generated code. AI was used only for writing the automation script and the slide-building script.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snap.sh  →  git history + documentation/shots/  →  build_slides.py  →  this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How each increment is documented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Every increment starts with a statement slide: the unit test, what it checks and the expected results.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It is followed by five screenshots, generated automatically by snap.sh and committed with the code: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1  the new unit test code (diff of tests/)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2  the new test failing before any implementation — RED commit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3  the production code changes, highlighted as a diff of src/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4  the new test passing after the change — GREEN commit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5  the whole suite (uv run pytest) still passing — no regressions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step bar at the bottom of each slide shows where you are in the 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8863" y="566928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6575" y="566928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44287" y="566928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1999" y="566928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79711" y="566928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1–14 of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97280"/>
          <a:ext cx="11365992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503920"/>
                <a:gridCol w="2039112"/>
              </a:tblGrid>
              <a:tr h="347472">
                <a:tc>
                  <a:txBody>
                    <a:bodyPr/>
                    <a:lstStyle/>
                    <a:p>
                      <a:r>
                        <a:rPr sz="1200"/>
                        <a:t>Inc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Unit test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File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has push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02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push is safe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has working pop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04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does substract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If stack underflow while substract number is not lost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does divide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If stack underflow while divide number is not lost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If divide by zero number is not lost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09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does add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If add number is not lost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does multiply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12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If multiply number is not lost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Calculator does delete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14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Delete on empty stack raises  (passed directly)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test_class.py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15–27 of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97280"/>
          <a:ext cx="11365992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503920"/>
                <a:gridCol w="2039112"/>
              </a:tblGrid>
              <a:tr h="347472">
                <a:tc>
                  <a:txBody>
                    <a:bodyPr/>
                    <a:lstStyle/>
                    <a:p>
                      <a:r>
                        <a:rPr sz="1200"/>
                        <a:t>Inc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Unit test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File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instantiates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handles push pop with reals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handles push pop with complex and weird inputs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handles decimal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19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rejects bad number inputs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handles sequence of inputs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Decoder handles all right inputs and wrong inputs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22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Cli quits on eof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Cli works for one line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24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Cli works for multiple lines and input types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Cli escapes errors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Delete works and 0 is displayed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/>
                        <a:t>27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No output when no pop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r>
                        <a:rPr sz="1200"/>
                        <a:t>test_ui.py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01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has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tests/test_class.py::test_calculator_has_push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has push.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calc.push(0)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2da1cc3  green aa94aa9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01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870" y="1325880"/>
            <a:ext cx="542521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documentation/shots/inc01/1-test-code.png   ·   commit 2da1cc3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01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468" y="1325880"/>
            <a:ext cx="76000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documentation/shots/inc01/2-test-fails.png   ·   commit 2da1cc3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01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653" y="1325880"/>
            <a:ext cx="751964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documentation/shots/inc01/3-code-change.png   ·   commit aa94aa9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01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documentation/shots/inc01/4-test-passes.png   ·   commit aa94aa9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01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documentation/shots/inc01/5-all-tests-pass.png   ·   commit aa94aa9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02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push is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tests/test_class.py::test_calculator_push_is_safe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push is safe.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raises ValueError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f83bfe7  green 35193f6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02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push is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187" y="1325880"/>
            <a:ext cx="649457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documentation/shots/inc02/1-test-code.png   ·   commit f83bfe7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02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push is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472" y="1325880"/>
            <a:ext cx="380000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documentation/shots/inc02/2-test-fails.png   ·   commit f83bfe7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02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push is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930" y="1325880"/>
            <a:ext cx="725909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documentation/shots/inc02/3-code-change.png   ·   commit 35193f6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02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push is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documentation/shots/inc02/4-test-passes.png   ·   commit 35193f6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02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push is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documentation/shots/inc02/5-all-tests-pass.png   ·   commit 35193f6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03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tests/test_class.py::test_calculator_has_working_pop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has working pop.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6690114  green 095aa68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03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791" y="1325880"/>
            <a:ext cx="619536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documentation/shots/inc03/1-test-code.png   ·   commit 6690114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03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084" y="1325880"/>
            <a:ext cx="662078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documentation/shots/inc03/2-test-fails.png   ·   commit 6690114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03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393" y="1325880"/>
            <a:ext cx="928216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documentation/shots/inc03/3-code-change.png   ·   commit 095aa68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03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documentation/shots/inc03/4-test-passes.png   ·   commit 095aa68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03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has working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documentation/shots/inc03/5-all-tests-pass.png   ·   commit 095aa68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04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tests/test_class.py::test_calculator_does_substract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does substract.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result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2dd9338  green 581f619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04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644" y="1325880"/>
            <a:ext cx="499166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documentation/shots/inc04/1-test-code.png   ·   commit 2dd9338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04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66" y="1325880"/>
            <a:ext cx="241261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documentation/shots/inc04/2-test-fails.png   ·   commit 2dd9338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04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818" y="1325880"/>
            <a:ext cx="67933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documentation/shots/inc04/3-code-change.png   ·   commit 581f619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04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documentation/shots/inc04/4-test-passes.png   ·   commit 581f619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04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substract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documentation/shots/inc04/5-all-tests-pass.png   ·   commit 581f619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05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tests/test_class.py::test_if_stack_underflow_while_substract_number_is_not_lost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if stack underflow while substract number is not 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9a75cf5  green 60e860a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05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170" y="1325880"/>
            <a:ext cx="9060611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documentation/shots/inc05/1-test-code.png   ·   commit 9a75cf5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05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436" y="1325880"/>
            <a:ext cx="500408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documentation/shots/inc05/2-test-fails.png   ·   commit 9a75cf5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05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457" y="1325880"/>
            <a:ext cx="791803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documentation/shots/inc05/3-code-change.png   ·   commit 60e860a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05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documentation/shots/inc05/4-test-passes.png   ·   commit 60e860a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05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substract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documentation/shots/inc05/5-all-tests-pass.png   ·   commit 60e860a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06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does divide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tests/test_class.py::test_calculator_does_divide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does divide.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pytest.approx(result)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30a08e4  green 3a8c154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06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divide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67" y="1325880"/>
            <a:ext cx="717521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documentation/shots/inc06/1-test-code.png   ·   commit 30a08e4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06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divide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368" y="1325880"/>
            <a:ext cx="2384215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documentation/shots/inc06/2-test-fails.png   ·   commit 30a08e4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06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divide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818" y="1325880"/>
            <a:ext cx="67933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documentation/shots/inc06/3-code-change.png   ·   commit 3a8c154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06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divide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documentation/shots/inc06/4-test-passes.png   ·   commit 3a8c154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06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divide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documentation/shots/inc06/5-all-tests-pass.png   ·   commit 3a8c154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07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tests/test_class.py::test_if_stack_underflow_while_divide_number_is_not_lost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if stack underflow while divide number is not 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848ed1a  green 22811f0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07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592" y="1325880"/>
            <a:ext cx="690576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documentation/shots/inc07/1-test-code.png   ·   commit 848ed1a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07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436" y="1325880"/>
            <a:ext cx="500408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documentation/shots/inc07/2-test-fails.png   ·   commit 848ed1a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07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457" y="1325880"/>
            <a:ext cx="791803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documentation/shots/inc07/3-code-change.png   ·   commit 22811f0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07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documentation/shots/inc07/4-test-passes.png   ·   commit 22811f0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07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stack underflow while divide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documentation/shots/inc07/5-all-tests-pass.png   ·   commit 22811f0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08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tests/test_class.py::test_if_divide_by_zero_number_is_not_lost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if divide by zero number is not 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a17cc75  green 038d187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08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73" y="1325880"/>
            <a:ext cx="779760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documentation/shots/inc08/1-test-code.png   ·   commit a17cc75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08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2769" y="1325880"/>
            <a:ext cx="488341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documentation/shots/inc08/2-test-fails.png   ·   commit a17cc75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08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457" y="1325880"/>
            <a:ext cx="791803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documentation/shots/inc08/3-code-change.png   ·   commit 038d187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08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documentation/shots/inc08/4-test-passes.png   ·   commit 038d187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08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divide by zero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4295"/>
            <a:ext cx="11365992" cy="3249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documentation/shots/inc08/5-all-tests-pass.png   ·   commit 038d187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09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does add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tests/test_class.py::test_calculator_does_add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does add.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242614c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09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468" y="1325880"/>
            <a:ext cx="71920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documentation/shots/inc09/1-test-code.png   ·   commit 242614c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09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462" y="1325880"/>
            <a:ext cx="655202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documentation/shots/inc09/2-test-fails.png   ·   commit 242614c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09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311" y="1325880"/>
            <a:ext cx="679032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documentation/shots/inc09/3-code-change.png   ·   commit 242614c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09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8775"/>
            <a:ext cx="11365992" cy="282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documentation/shots/inc09/4-test-passes.png   ·   commit 242614c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09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4923"/>
            <a:ext cx="11365992" cy="3028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documentation/shots/inc09/5-all-tests-pass.png   ·   commit 242614c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10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tests/test_class.py::test_if_add_number_is_not_lost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if add number is not 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f456f94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10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78" y="1325880"/>
            <a:ext cx="542259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documentation/shots/inc10/1-test-code.png   ·   commit f456f94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10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174" y="1325880"/>
            <a:ext cx="461660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documentation/shots/inc10/2-test-fails.png   ·   commit f456f94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10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198" y="1325880"/>
            <a:ext cx="7914555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documentation/shots/inc10/3-code-change.png   ·   commit f456f94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10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8775"/>
            <a:ext cx="11365992" cy="282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documentation/shots/inc10/4-test-passes.png   ·   commit f456f94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10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add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4923"/>
            <a:ext cx="11365992" cy="3028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documentation/shots/inc10/5-all-tests-pass.png   ·   commit f456f94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11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does multiply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tests/test_class.py::test_calculator_does_multiply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does multiply.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d93fba5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11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multiply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728" y="1325880"/>
            <a:ext cx="6477495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documentation/shots/inc11/1-test-code.png   ·   commit d93fba5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11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multiply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462" y="1325880"/>
            <a:ext cx="655202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documentation/shots/inc11/2-test-fails.png   ·   commit d93fba5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11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multiply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311" y="1325880"/>
            <a:ext cx="679032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documentation/shots/inc11/3-code-change.png   ·   commit d93fba5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11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multiply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8775"/>
            <a:ext cx="11365992" cy="282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documentation/shots/inc11/4-test-passes.png   ·   commit d93fba5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11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multiply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4923"/>
            <a:ext cx="11365992" cy="3028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documentation/shots/inc11/5-all-tests-pass.png   ·   commit d93fba5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12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tests/test_class.py::test_if_multiply_number_is_not_lost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if multiply number is not 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2729801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12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226" y="1325880"/>
            <a:ext cx="723849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documentation/shots/inc12/1-test-code.png   ·   commit 2729801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12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200" y="1325880"/>
            <a:ext cx="500255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documentation/shots/inc12/2-test-fails.png   ·   commit 2729801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12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198" y="1325880"/>
            <a:ext cx="7914555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documentation/shots/inc12/3-code-change.png   ·   commit 2729801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12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8775"/>
            <a:ext cx="11365992" cy="282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documentation/shots/inc12/4-test-passes.png   ·   commit 2729801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12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If multiply number is not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4923"/>
            <a:ext cx="11365992" cy="3028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documentation/shots/inc12/5-all-tests-pass.png   ·   commit 2729801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13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Calculator does delete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tests/test_class.py::test_calculator_does_delete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calculator does delete.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calc.pop() ==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7d379f5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13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328" y="1325880"/>
            <a:ext cx="786629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documentation/shots/inc13/1-test-code.png   ·   commit 7d379f5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13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462" y="1325880"/>
            <a:ext cx="655202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documentation/shots/inc13/2-test-fails.png   ·   commit 7d379f5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13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306" y="1325880"/>
            <a:ext cx="751633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documentation/shots/inc13/3-code-change.png   ·   commit 7d379f5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13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8775"/>
            <a:ext cx="11365992" cy="28204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documentation/shots/inc13/4-test-passes.png   ·   commit 7d379f5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13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Calculator does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4923"/>
            <a:ext cx="11365992" cy="3028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documentation/shots/inc13/5-all-tests-pass.png   ·   commit 7d379f5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14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test_class.py  ·  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tests/test_class.py::test_delete_on_empty_stack_raises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delete on empty stack raises.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raises IndexError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406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ℹ This test passed directly: existing code already covered it, so no production change was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commit 4f0578a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14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084" y="1325880"/>
            <a:ext cx="72947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documentation/shots/inc14/1-test-code.png   ·   commit 4f0578a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14 · Step 2/5 — Unit test run before code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Passed directly — existing code already satisfied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1365992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6B7280"/>
                </a:solidFill>
              </a:rPr>
              <a:t>No screenshot for this step (2-test-fails.png not found).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documentation/shots/inc14/2-test-fails.png   ·   commit 4f0578a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14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1365992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6B7280"/>
                </a:solidFill>
              </a:rPr>
              <a:t>No production code change was needed for this increment.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documentation/shots/inc14/3-code-change.png   ·   commit 4f0578a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14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1365992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6B7280"/>
                </a:solidFill>
              </a:rPr>
              <a:t>No screenshot for this step (4-test-passes.png not found).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documentation/shots/inc14/4-test-passes.png   ·   commit 4f0578a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14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on empty stack raises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1365992" cy="4206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>
                <a:solidFill>
                  <a:srgbClr val="6B7280"/>
                </a:solidFill>
              </a:rPr>
              <a:t>No screenshot for this step (5-all-tests-pass.png not found).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documentation/shots/inc14/5-all-tests-pass.png   ·   commit 4f0578a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15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15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instantiates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tests/test_ui.py::test_decoder_instantiates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instantiates.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isinstance(decoder, Decoder)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33363d9  green 3257490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15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instantiates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3247" y="1325880"/>
            <a:ext cx="588245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documentation/shots/inc15/1-test-code.png   ·   commit 33363d9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15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instantiates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15" y="1325880"/>
            <a:ext cx="732512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documentation/shots/inc15/2-test-fails.png   ·   commit 33363d9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15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instantiates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830" y="1325880"/>
            <a:ext cx="781929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documentation/shots/inc15/3-code-change.png   ·   commit 3257490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15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instantiates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documentation/shots/inc15/4-test-passes.png   ·   commit 3257490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15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instantiates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documentation/shots/inc15/5-all-tests-pass.png   ·   commit 3257490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16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tests/test_ui.py::test_decoder_handles_push_pop_with_reals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handles push pop with reals.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-1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f090884  green 2c07019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16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7415" y="1325880"/>
            <a:ext cx="4714121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documentation/shots/inc16/1-test-code.png   ·   commit f090884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16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468" y="1325880"/>
            <a:ext cx="76000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documentation/shots/inc16/2-test-fails.png   ·   commit f090884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16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041" y="1325880"/>
            <a:ext cx="471286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documentation/shots/inc16/3-code-change.png   ·   commit 2c07019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16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documentation/shots/inc16/4-test-passes.png   ·   commit 2c07019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16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reals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documentation/shots/inc16/5-all-tests-pass.png   ·   commit 2c07019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17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tests/test_ui.py::test_decoder_handles_push_pop_with_complex_and_weird_inputs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handles push pop with complex and weird inputs.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2 - 3j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 + 3j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-3j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… and 17 more assertions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69dd06c  green cb34666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17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1792" y="1325880"/>
            <a:ext cx="150536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documentation/shots/inc17/1-test-code.png   ·   commit 69dd06c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17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440" y="1325880"/>
            <a:ext cx="3254071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documentation/shots/inc17/2-test-fails.png   ·   commit 69dd06c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17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994" y="1325880"/>
            <a:ext cx="305496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documentation/shots/inc17/3-code-change.png   ·   commit cb34666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17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documentation/shots/inc17/4-test-passes.png   ·   commit cb34666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17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push pop with complex and weird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documentation/shots/inc17/5-all-tests-pass.png   ·   commit cb34666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18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handles decimal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tests/test_ui.py::test_decoder_handles_decimal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handles decimal.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pytest.approx(1.4)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pytest.approx(-1.4)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pytest.approx(-1.0)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n == pytest.approx(3.2 - 1.4j)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f7d913e  green cc4fd92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18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decimal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607" y="1325880"/>
            <a:ext cx="737173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documentation/shots/inc18/1-test-code.png   ·   commit f7d913e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18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decimal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870" y="1325880"/>
            <a:ext cx="3307211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documentation/shots/inc18/2-test-fails.png   ·   commit f7d913e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18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decimal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016" y="1325880"/>
            <a:ext cx="532291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documentation/shots/inc18/3-code-change.png   ·   commit cc4fd92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18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decimal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documentation/shots/inc18/4-test-passes.png   ·   commit cc4fd92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18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decimal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documentation/shots/inc18/5-all-tests-pass.png   ·   commit cc4fd92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19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19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tests/test_ui.py::test_decoder_rejects_bad_number_inputs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rejects bad number inputs.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SyntaxError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… and 4 more assertions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34a141e  green b45cfac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19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229" y="1325880"/>
            <a:ext cx="362849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documentation/shots/inc19/1-test-code.png   ·   commit 34a141e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19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468" y="1325880"/>
            <a:ext cx="7600016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documentation/shots/inc19/2-test-fails.png   ·   commit 34a141e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19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800" y="1325880"/>
            <a:ext cx="9065352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documentation/shots/inc19/3-code-change.png   ·   commit b45cfac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19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documentation/shots/inc19/4-test-passes.png   ·   commit b45cfac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19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rejects bad number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documentation/shots/inc19/5-all-tests-pass.png   ·   commit b45cfac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20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tests/test_ui.py::test_decoder_handles_sequence_of_inputs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handles sequence of inputs.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pytest.approx(1.3)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pytest.approx(1.4)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pytest.approx(3.4)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2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3j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4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1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… and 3 more assertions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b7d85f9  green c50425b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20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165" y="1325880"/>
            <a:ext cx="3942621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documentation/shots/inc20/1-test-code.png   ·   commit b7d85f9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20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882" y="1325880"/>
            <a:ext cx="641118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documentation/shots/inc20/2-test-fails.png   ·   commit b7d85f9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20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934" y="1325880"/>
            <a:ext cx="26970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documentation/shots/inc20/3-code-change.png   ·   commit c50425b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20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documentation/shots/inc20/4-test-passes.png   ·   commit c50425b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20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sequence of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documentation/shots/inc20/5-all-tests-pass.png   ·   commit c50425b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21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tests/test_ui.py::test_decoder_handles_all_right_inputs_and_wrong_inputs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decoder handles all right inputs and wrong inputs.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pytest.approx(7.6)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assert n == pytest.approx(1 - 5j)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raises IndexError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Consolas"/>
              </a:rPr>
              <a:t>✓ … and 9 more assertions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d36cb4f  green 9d25d42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21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401" y="1325880"/>
            <a:ext cx="306615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documentation/shots/inc21/1-test-code.png   ·   commit d36cb4f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21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084" y="1325880"/>
            <a:ext cx="662078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documentation/shots/inc21/2-test-fails.png   ·   commit d36cb4f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21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596" y="1325880"/>
            <a:ext cx="1931759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documentation/shots/inc21/3-code-change.png   ·   commit 9d25d42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21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documentation/shots/inc21/4-test-passes.png   ·   commit 9d25d42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21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Decoder handles all right inputs and wrong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documentation/shots/inc21/5-all-tests-pass.png   ·   commit 9d25d42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22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Cli quits on eof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tests/test_ui.py::test_cli_quits_on_eof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cli quits on eof.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a98446f  green 5ea44ee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22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quits on 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832" y="1325880"/>
            <a:ext cx="597728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documentation/shots/inc22/1-test-code.png   ·   commit a98446f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22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quits on 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469" y="1325880"/>
            <a:ext cx="604001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documentation/shots/inc22/2-test-fails.png   ·   commit a98446f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22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quits on 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279" y="1325880"/>
            <a:ext cx="385639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documentation/shots/inc22/3-code-change.png   ·   commit 5ea44ee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22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quits on 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documentation/shots/inc22/4-test-passes.png   ·   commit 5ea44ee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22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quits on eof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documentation/shots/inc22/5-all-tests-pass.png   ·   commit 5ea44ee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23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Cli works for 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tests/test_ui.py::test_cli_works_for_one_line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cli works for one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3+4---5j push 6 sub push 2 mul push 2 div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90f1ee8  green 88b807f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23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78967"/>
            <a:ext cx="11365992" cy="390006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documentation/shots/inc23/1-test-code.png   ·   commit 90f1ee8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23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202" y="1325880"/>
            <a:ext cx="684454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documentation/shots/inc23/2-test-fails.png   ·   commit 90f1ee8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23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797" y="1325880"/>
            <a:ext cx="5945358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documentation/shots/inc23/3-code-change.png   ·   commit 88b807f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23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documentation/shots/inc23/4-test-passes.png   ·   commit 88b807f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23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documentation/shots/inc23/5-all-tests-pass.png   ·   commit 88b807f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24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tests/test_ui.py::test_cli_works_for_multiple_lines_and_input_types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cli works for multiple lines and input types.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3+4---5j push 6 sub push 2 mul push 2 div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a6656d4  green 580e0d7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24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39312"/>
            <a:ext cx="11365992" cy="27793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documentation/shots/inc24/1-test-code.png   ·   commit a6656d4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24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882" y="1325880"/>
            <a:ext cx="641118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documentation/shots/inc24/2-test-fails.png   ·   commit a6656d4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24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27440"/>
            <a:ext cx="11365992" cy="38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documentation/shots/inc24/3-code-change.png   ·   commit 580e0d7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24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documentation/shots/inc24/4-test-passes.png   ·   commit 580e0d7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24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works for multiple lines and input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documentation/shots/inc24/5-all-tests-pass.png   ·   commit 580e0d7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25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Cli escapes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tests/test_ui.py::test_cli_escapes_errors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cli escapes errors.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run_session('add') == '$&gt;Error: stack underflow\n$&gt;\n'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1 push 0 div') == '$&gt;Error: division by ze…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pop pop') == '$&gt;Error: wrong syntax\n$&gt;\n'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2c9e48d  green ce5d719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25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escapes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17539"/>
            <a:ext cx="11365992" cy="262292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documentation/shots/inc25/1-test-code.png   ·   commit 2c9e48d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25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escapes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436" y="1325880"/>
            <a:ext cx="500408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documentation/shots/inc25/2-test-fails.png   ·   commit 2c9e48d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25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escapes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014" y="1325880"/>
            <a:ext cx="455892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documentation/shots/inc25/3-code-change.png   ·   commit ce5d719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25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escapes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documentation/shots/inc25/4-test-passes.png   ·   commit ce5d719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25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Cli escapes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documentation/shots/inc25/5-all-tests-pass.png   ·   commit ce5d719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26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tests/test_ui.py::test_delete_works_and_0_is_displayed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delete works and 0 is displayed.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0 pop\n') == '$&gt;0 + j0\n$&gt;\n'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1 push 0 +j00.00 mul pop\n') == '$&gt;0 + j0\…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1.0 push 2 delete pop\n') == '$&gt;1 + j0\n$&gt;\n'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run_session('delete') == '$&gt;Error: stack underflow\n$&gt;\n'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4745f6d  green 2d519a4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26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325880"/>
            <a:ext cx="99898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documentation/shots/inc26/1-test-code.png   ·   commit 4745f6d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26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493" y="1325880"/>
            <a:ext cx="7083965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documentation/shots/inc26/2-test-fails.png   ·   commit 4745f6d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26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02" y="1325880"/>
            <a:ext cx="6103347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documentation/shots/inc26/3-code-change.png   ·   commit 2d519a4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26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documentation/shots/inc26/4-test-passes.png   ·   commit 2d519a4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26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Delete works and 0 is displayed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documentation/shots/inc26/5-all-tests-pass.png   ·   commit 2d519a4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Increment 27 —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test_ui.py  ·  27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2937"/>
                </a:solidFill>
                <a:latin typeface="Calibri"/>
              </a:rPr>
              <a:t>No output when no pop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tests/test_ui.py::test_no_output_when_no_pop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120640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Checks that: no output when no pop.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331720"/>
            <a:ext cx="5742432" cy="30632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514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A34A"/>
                </a:solidFill>
                <a:latin typeface="Calibri"/>
              </a:rPr>
              <a:t>EXPECTED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1\n') == '$&gt;$&gt;\n'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onsolas"/>
              </a:rPr>
              <a:t>✓ assert run_session('push 3 push 4 push 6') == '$&gt;$&gt;\n'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863" y="585216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6575" y="585216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4287" y="585216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1999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9711" y="585216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red 7cc3a6a  green 9548558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27 · Step 1/5 — Unit test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No output when no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New test added — diff of tests/</a:t>
            </a:r>
          </a:p>
        </p:txBody>
      </p:sp>
      <p:pic>
        <p:nvPicPr>
          <p:cNvPr id="6" name="Picture 5" descr="1-test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54" y="1325880"/>
            <a:ext cx="9021443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documentation/shots/inc27/1-test-code.png   ·   commit 7cc3a6a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27 · Step 2/5 — Unit test fails (RED)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No output when no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before implementing it</a:t>
            </a:r>
          </a:p>
        </p:txBody>
      </p:sp>
      <p:pic>
        <p:nvPicPr>
          <p:cNvPr id="6" name="Picture 5" descr="2-test-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436" y="1325880"/>
            <a:ext cx="500408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documentation/shots/inc27/2-test-fails.png   ·   commit 7cc3a6a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27 · Step 3/5 — Code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No output when no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Highlighted diff of src/ (green = added, red = removed)</a:t>
            </a:r>
          </a:p>
        </p:txBody>
      </p:sp>
      <p:pic>
        <p:nvPicPr>
          <p:cNvPr id="6" name="Picture 5" descr="3-code-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394" y="1325880"/>
            <a:ext cx="777416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documentation/shots/inc27/3-code-change.png   ·   commit 9548558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27 · Step 4/5 — Unit test passes (GREEN)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No output when no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Only the new test, run after the code change</a:t>
            </a:r>
          </a:p>
        </p:txBody>
      </p:sp>
      <p:pic>
        <p:nvPicPr>
          <p:cNvPr id="6" name="Picture 5" descr="4-test-p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5386"/>
            <a:ext cx="11365992" cy="30272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documentation/shots/inc27/4-test-passes.png   ·   commit 9548558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0"/>
            <a:ext cx="7680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Inc 27 · Step 5/5 — All previous tests still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0"/>
            <a:ext cx="3657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No output when no 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Full regression run: uv run pytest</a:t>
            </a:r>
          </a:p>
        </p:txBody>
      </p:sp>
      <p:pic>
        <p:nvPicPr>
          <p:cNvPr id="6" name="Picture 5" descr="5-all-tests-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86261"/>
            <a:ext cx="11365992" cy="34854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8863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1  Test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575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2  Fails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4287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3  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1999" y="5760720"/>
            <a:ext cx="2103120" cy="4572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6B7280"/>
                </a:solidFill>
              </a:rPr>
              <a:t>4  Passes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9711" y="5760720"/>
            <a:ext cx="2103120" cy="4572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 All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onsolas"/>
              </a:rPr>
              <a:t>documentation/shots/inc27/5-all-tests-pass.png   ·   commit 9548558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739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